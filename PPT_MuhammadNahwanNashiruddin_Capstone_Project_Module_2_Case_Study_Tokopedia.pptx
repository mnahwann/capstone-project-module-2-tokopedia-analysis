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84" r:id="rId4"/>
    <p:sldId id="285" r:id="rId5"/>
    <p:sldId id="286" r:id="rId6"/>
    <p:sldId id="287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2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95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65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562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347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1199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493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956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431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241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924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9933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2629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7502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8602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8180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3714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73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C64679-9E94-4C01-B6B2-6B34BBE964A1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75C73-D6DD-4B05-BF9E-1CAF0E69E2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0761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8C0EC-1D9A-63A1-4BD3-235F6B3D8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415829"/>
            <a:ext cx="8825658" cy="3329581"/>
          </a:xfrm>
        </p:spPr>
        <p:txBody>
          <a:bodyPr/>
          <a:lstStyle/>
          <a:p>
            <a:r>
              <a:rPr lang="en-ID" sz="4800" b="1" dirty="0" err="1"/>
              <a:t>Analisis</a:t>
            </a:r>
            <a:r>
              <a:rPr lang="en-ID" sz="4800" b="1" dirty="0"/>
              <a:t> </a:t>
            </a:r>
            <a:r>
              <a:rPr lang="en-ID" sz="4800" b="1" dirty="0" err="1"/>
              <a:t>Transaksi</a:t>
            </a:r>
            <a:r>
              <a:rPr lang="en-ID" sz="4800" b="1" dirty="0"/>
              <a:t> </a:t>
            </a:r>
            <a:r>
              <a:rPr lang="en-ID" sz="4800" b="1" dirty="0" err="1"/>
              <a:t>Pelanggan</a:t>
            </a:r>
            <a:r>
              <a:rPr lang="en-ID" sz="4800" b="1" dirty="0"/>
              <a:t> dan Kinerja </a:t>
            </a:r>
            <a:r>
              <a:rPr lang="en-ID" sz="4800" b="1" dirty="0" err="1"/>
              <a:t>Pengiriman</a:t>
            </a:r>
            <a:r>
              <a:rPr lang="en-ID" sz="4800" b="1" dirty="0"/>
              <a:t> Tokopedia</a:t>
            </a:r>
            <a:br>
              <a:rPr lang="en-ID" sz="4800" b="1" dirty="0"/>
            </a:br>
            <a:r>
              <a:rPr lang="en-ID" sz="3600" dirty="0"/>
              <a:t>Capstone Project Module 2</a:t>
            </a:r>
            <a:br>
              <a:rPr lang="en-ID" sz="3600" dirty="0"/>
            </a:br>
            <a:r>
              <a:rPr lang="en-ID" sz="3600" dirty="0"/>
              <a:t>Data Analysis</a:t>
            </a:r>
            <a:endParaRPr lang="en-ID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0D096-A16B-A2D3-0E75-BEF01ABEF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385732"/>
            <a:ext cx="8825658" cy="2056437"/>
          </a:xfrm>
        </p:spPr>
        <p:txBody>
          <a:bodyPr>
            <a:normAutofit/>
          </a:bodyPr>
          <a:lstStyle/>
          <a:p>
            <a:pPr algn="ctr"/>
            <a:r>
              <a:rPr lang="en-ID" sz="2800" b="1" dirty="0">
                <a:solidFill>
                  <a:schemeClr val="tx1"/>
                </a:solidFill>
              </a:rPr>
              <a:t>Muhammad Nahwan Nashiruddin</a:t>
            </a:r>
          </a:p>
          <a:p>
            <a:pPr algn="ctr"/>
            <a:r>
              <a:rPr lang="en-ID" sz="2800" dirty="0">
                <a:solidFill>
                  <a:schemeClr val="tx1"/>
                </a:solidFill>
              </a:rPr>
              <a:t>Job Connector Data Science &amp; Machine Learning</a:t>
            </a:r>
            <a:br>
              <a:rPr lang="en-ID" sz="2800" dirty="0">
                <a:solidFill>
                  <a:schemeClr val="tx1"/>
                </a:solidFill>
              </a:rPr>
            </a:br>
            <a:r>
              <a:rPr lang="en-ID" sz="2800" dirty="0" err="1">
                <a:solidFill>
                  <a:schemeClr val="tx1"/>
                </a:solidFill>
              </a:rPr>
              <a:t>Purwadhika</a:t>
            </a:r>
            <a:r>
              <a:rPr lang="en-ID" sz="2800" dirty="0">
                <a:solidFill>
                  <a:schemeClr val="tx1"/>
                </a:solidFill>
              </a:rPr>
              <a:t> Digital Technology School</a:t>
            </a:r>
          </a:p>
          <a:p>
            <a:pPr algn="ctr"/>
            <a:r>
              <a:rPr lang="en-ID" sz="2800" dirty="0">
                <a:solidFill>
                  <a:schemeClr val="tx1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3767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283B-F6D4-BF78-E439-167781EE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Latar </a:t>
            </a:r>
            <a:r>
              <a:rPr lang="en-ID" dirty="0" err="1"/>
              <a:t>Belakang</a:t>
            </a:r>
            <a:r>
              <a:rPr lang="en-ID" dirty="0"/>
              <a:t> &amp; </a:t>
            </a:r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33889-AFBB-A7C4-F1CA-A9164E4C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320800"/>
            <a:ext cx="10700201" cy="4927599"/>
          </a:xfrm>
        </p:spPr>
        <p:txBody>
          <a:bodyPr numCol="2"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Latar </a:t>
            </a:r>
            <a:r>
              <a:rPr lang="en-US" b="1" dirty="0" err="1"/>
              <a:t>Belakang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📈 </a:t>
            </a: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e-commerce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🚚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</a:t>
            </a:r>
            <a:r>
              <a:rPr lang="en-ID" dirty="0" err="1"/>
              <a:t>memengaruhi</a:t>
            </a:r>
            <a:r>
              <a:rPr lang="en-ID" dirty="0"/>
              <a:t> </a:t>
            </a:r>
            <a:r>
              <a:rPr lang="en-ID" dirty="0" err="1"/>
              <a:t>kepuasan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📊 Perusahaan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dan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💡 Insight yang </a:t>
            </a:r>
            <a:r>
              <a:rPr lang="en-ID" dirty="0" err="1"/>
              <a:t>dihasilkan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dirty="0"/>
          </a:p>
          <a:p>
            <a:pPr marL="457200" indent="-457200">
              <a:buFont typeface="+mj-lt"/>
              <a:buAutoNum type="arabicPeriod"/>
            </a:pPr>
            <a:endParaRPr lang="en-ID" dirty="0"/>
          </a:p>
          <a:p>
            <a:pPr marL="0" indent="0">
              <a:buNone/>
            </a:pPr>
            <a:r>
              <a:rPr lang="en-ID" dirty="0"/>
              <a:t>	</a:t>
            </a:r>
            <a:r>
              <a:rPr lang="en-ID" b="1" dirty="0" err="1"/>
              <a:t>Rumusan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b="1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dan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proses </a:t>
            </a:r>
            <a:r>
              <a:rPr lang="en-ID" dirty="0" err="1"/>
              <a:t>pengiriman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data yang </a:t>
            </a:r>
            <a:r>
              <a:rPr lang="en-ID" dirty="0" err="1"/>
              <a:t>tersedia</a:t>
            </a:r>
            <a:r>
              <a:rPr lang="en-ID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735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03FB-EC64-12A9-8874-D71DF1DB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ABBF-6DFD-5800-3D24-8ADB90D0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b="1" dirty="0"/>
              <a:t>Tujuan </a:t>
            </a:r>
            <a:r>
              <a:rPr lang="en-ID" b="1" dirty="0" err="1"/>
              <a:t>Analisis</a:t>
            </a:r>
            <a:r>
              <a:rPr lang="en-ID" b="1" dirty="0"/>
              <a:t>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F04D-76E1-2A2F-96B0-9D3415D2D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320800"/>
            <a:ext cx="11209866" cy="4927599"/>
          </a:xfrm>
        </p:spPr>
        <p:txBody>
          <a:bodyPr numCol="2"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Tujuan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proses </a:t>
            </a:r>
            <a:r>
              <a:rPr lang="en-ID" dirty="0" err="1"/>
              <a:t>pengiriman</a:t>
            </a:r>
            <a:r>
              <a:rPr lang="en-ID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Menghasilkan</a:t>
            </a:r>
            <a:r>
              <a:rPr lang="en-ID" dirty="0"/>
              <a:t> insight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dirty="0"/>
          </a:p>
          <a:p>
            <a:pPr marL="457200" indent="-457200">
              <a:buFont typeface="+mj-lt"/>
              <a:buAutoNum type="arabicPeriod"/>
            </a:pPr>
            <a:endParaRPr lang="en-ID" dirty="0"/>
          </a:p>
          <a:p>
            <a:pPr marL="0" indent="0">
              <a:buNone/>
            </a:pPr>
            <a:r>
              <a:rPr lang="en-ID" dirty="0"/>
              <a:t>	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/>
              <a:t>	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📄 </a:t>
            </a:r>
            <a:r>
              <a:rPr lang="en-ID" b="1" dirty="0"/>
              <a:t>users.csv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	Data </a:t>
            </a:r>
            <a:r>
              <a:rPr lang="en-ID" dirty="0" err="1"/>
              <a:t>profil</a:t>
            </a:r>
            <a:r>
              <a:rPr lang="en-ID" dirty="0"/>
              <a:t> </a:t>
            </a:r>
            <a:r>
              <a:rPr lang="en-ID" dirty="0" err="1"/>
              <a:t>pengguna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📄 </a:t>
            </a:r>
            <a:r>
              <a:rPr lang="en-ID" b="1" dirty="0"/>
              <a:t>transactions.csv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	Data </a:t>
            </a:r>
            <a:r>
              <a:rPr lang="en-ID" dirty="0" err="1"/>
              <a:t>transaksi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dirty="0"/>
              <a:t>📄 </a:t>
            </a:r>
            <a:r>
              <a:rPr lang="en-ID" b="1" dirty="0"/>
              <a:t>deliveries.csv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	Data </a:t>
            </a:r>
            <a:r>
              <a:rPr lang="en-ID" dirty="0" err="1"/>
              <a:t>pengiriman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454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F88F-83A6-1E34-B16B-42C35D5C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44D13-27DC-596F-7DDD-9F599DB6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b="1" dirty="0" err="1"/>
              <a:t>Tahapan</a:t>
            </a:r>
            <a:r>
              <a:rPr lang="en-ID" b="1" dirty="0"/>
              <a:t> </a:t>
            </a:r>
            <a:r>
              <a:rPr lang="en-ID" b="1" dirty="0" err="1"/>
              <a:t>Analisis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FF435-B7F9-C1D0-ADDA-5307EE476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320800"/>
            <a:ext cx="11209866" cy="4927599"/>
          </a:xfrm>
        </p:spPr>
        <p:txBody>
          <a:bodyPr numCol="2"/>
          <a:lstStyle/>
          <a:p>
            <a:pPr marL="0" indent="0">
              <a:buNone/>
            </a:pPr>
            <a:r>
              <a:rPr lang="en-ID" dirty="0"/>
              <a:t>📂 Dataset</a:t>
            </a:r>
          </a:p>
          <a:p>
            <a:pPr marL="0" indent="0">
              <a:buNone/>
            </a:pPr>
            <a:r>
              <a:rPr lang="en-ID" dirty="0"/>
              <a:t>		↓</a:t>
            </a:r>
          </a:p>
          <a:p>
            <a:pPr marL="0" indent="0">
              <a:buNone/>
            </a:pPr>
            <a:r>
              <a:rPr lang="en-ID" dirty="0"/>
              <a:t>🔍 Data Understanding</a:t>
            </a:r>
          </a:p>
          <a:p>
            <a:pPr marL="0" indent="0">
              <a:buNone/>
            </a:pPr>
            <a:r>
              <a:rPr lang="en-ID" dirty="0"/>
              <a:t>		↓</a:t>
            </a:r>
          </a:p>
          <a:p>
            <a:pPr marL="0" indent="0">
              <a:buNone/>
            </a:pPr>
            <a:r>
              <a:rPr lang="en-ID" dirty="0"/>
              <a:t>🧹 Data Cleaning</a:t>
            </a:r>
          </a:p>
          <a:p>
            <a:pPr marL="0" indent="0">
              <a:buNone/>
            </a:pPr>
            <a:r>
              <a:rPr lang="en-ID" dirty="0"/>
              <a:t>		↓</a:t>
            </a:r>
          </a:p>
          <a:p>
            <a:pPr marL="0" indent="0">
              <a:buNone/>
            </a:pPr>
            <a:r>
              <a:rPr lang="en-ID" dirty="0"/>
              <a:t>📈 Exploratory Data Analysis</a:t>
            </a:r>
          </a:p>
          <a:p>
            <a:pPr marL="0" indent="0">
              <a:buNone/>
            </a:pPr>
            <a:r>
              <a:rPr lang="en-ID" dirty="0"/>
              <a:t>		↓</a:t>
            </a:r>
          </a:p>
          <a:p>
            <a:pPr marL="0" indent="0">
              <a:buNone/>
            </a:pPr>
            <a:r>
              <a:rPr lang="en-ID" dirty="0"/>
              <a:t>📊 Dashboard Tableau</a:t>
            </a:r>
          </a:p>
          <a:p>
            <a:pPr marL="0" indent="0">
              <a:buNone/>
            </a:pPr>
            <a:r>
              <a:rPr lang="en-ID" dirty="0"/>
              <a:t>		↓</a:t>
            </a:r>
          </a:p>
          <a:p>
            <a:pPr marL="0" indent="0">
              <a:buNone/>
            </a:pPr>
            <a:r>
              <a:rPr lang="en-ID" dirty="0"/>
              <a:t>💡 Insight &amp; Recommendation</a:t>
            </a:r>
          </a:p>
          <a:p>
            <a:pPr marL="0" indent="0">
              <a:buNone/>
            </a:pPr>
            <a:r>
              <a:rPr lang="en-ID" dirty="0" err="1"/>
              <a:t>Seluruh</a:t>
            </a:r>
            <a:r>
              <a:rPr lang="en-ID" dirty="0"/>
              <a:t> proses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Python (Google </a:t>
            </a:r>
            <a:r>
              <a:rPr lang="en-ID" dirty="0" err="1"/>
              <a:t>Colab</a:t>
            </a:r>
            <a:r>
              <a:rPr lang="en-ID" dirty="0"/>
              <a:t>),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visualisasi</a:t>
            </a:r>
            <a:r>
              <a:rPr lang="en-ID" dirty="0"/>
              <a:t> dashboard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Tableau.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9554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5EF6-F831-BAD7-69AA-895DAA85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A398-360E-26F8-E12D-6BB457ECC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b="1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5B79-6ED3-318A-DCF1-48D3585F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320800"/>
            <a:ext cx="11209866" cy="4927599"/>
          </a:xfrm>
        </p:spPr>
        <p:txBody>
          <a:bodyPr numCol="2"/>
          <a:lstStyle/>
          <a:p>
            <a:pPr marL="0" indent="0">
              <a:buNone/>
            </a:pPr>
            <a:r>
              <a:rPr lang="en-ID" b="1" dirty="0"/>
              <a:t>	</a:t>
            </a:r>
            <a:r>
              <a:rPr lang="en-ID" b="1" dirty="0" err="1"/>
              <a:t>Berdasarkan</a:t>
            </a:r>
            <a:r>
              <a:rPr lang="en-ID" b="1" dirty="0"/>
              <a:t> </a:t>
            </a:r>
            <a:r>
              <a:rPr lang="en-ID" b="1" dirty="0" err="1"/>
              <a:t>hasil</a:t>
            </a:r>
            <a:r>
              <a:rPr lang="en-ID" b="1" dirty="0"/>
              <a:t> </a:t>
            </a:r>
            <a:r>
              <a:rPr lang="en-ID" b="1" dirty="0" err="1"/>
              <a:t>analisis</a:t>
            </a:r>
            <a:r>
              <a:rPr lang="en-ID" b="1" dirty="0"/>
              <a:t>:</a:t>
            </a:r>
            <a:endParaRPr lang="en-ID" dirty="0"/>
          </a:p>
          <a:p>
            <a:r>
              <a:rPr lang="en-ID" dirty="0"/>
              <a:t>Metode </a:t>
            </a:r>
            <a:r>
              <a:rPr lang="en-ID" dirty="0" err="1"/>
              <a:t>pembayaran</a:t>
            </a:r>
            <a:r>
              <a:rPr lang="en-ID" dirty="0"/>
              <a:t> digital </a:t>
            </a:r>
            <a:r>
              <a:rPr lang="en-ID" dirty="0" err="1"/>
              <a:t>didominasi</a:t>
            </a:r>
            <a:r>
              <a:rPr lang="en-ID" dirty="0"/>
              <a:t> oleh </a:t>
            </a:r>
            <a:r>
              <a:rPr lang="en-ID" b="1" dirty="0" err="1"/>
              <a:t>GoPay</a:t>
            </a:r>
            <a:r>
              <a:rPr lang="en-ID" dirty="0"/>
              <a:t>,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preferensi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pembayaran</a:t>
            </a:r>
            <a:r>
              <a:rPr lang="en-ID" dirty="0"/>
              <a:t> digital. </a:t>
            </a:r>
          </a:p>
          <a:p>
            <a:r>
              <a:rPr lang="en-ID" dirty="0" err="1"/>
              <a:t>Pengiriman</a:t>
            </a:r>
            <a:r>
              <a:rPr lang="en-ID" dirty="0"/>
              <a:t> </a:t>
            </a:r>
            <a:r>
              <a:rPr lang="en-ID" dirty="0" err="1"/>
              <a:t>didominasi</a:t>
            </a:r>
            <a:r>
              <a:rPr lang="en-ID" dirty="0"/>
              <a:t> oleh </a:t>
            </a:r>
            <a:r>
              <a:rPr lang="en-ID" b="1" dirty="0" err="1"/>
              <a:t>GoTo</a:t>
            </a:r>
            <a:r>
              <a:rPr lang="en-ID" b="1" dirty="0"/>
              <a:t> Logistics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mayoritas</a:t>
            </a:r>
            <a:r>
              <a:rPr lang="en-ID" dirty="0"/>
              <a:t> </a:t>
            </a:r>
            <a:r>
              <a:rPr lang="en-ID" dirty="0" err="1"/>
              <a:t>durasi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</a:t>
            </a:r>
            <a:r>
              <a:rPr lang="en-ID" b="1" dirty="0"/>
              <a:t>1–6 </a:t>
            </a:r>
            <a:r>
              <a:rPr lang="en-ID" b="1" dirty="0" err="1"/>
              <a:t>hari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data </a:t>
            </a:r>
            <a:r>
              <a:rPr lang="en-ID" dirty="0" err="1"/>
              <a:t>tidak</a:t>
            </a:r>
            <a:r>
              <a:rPr lang="en-ID" dirty="0"/>
              <a:t> valid </a:t>
            </a:r>
            <a:r>
              <a:rPr lang="en-ID" dirty="0" err="1"/>
              <a:t>dibersihkan</a:t>
            </a:r>
            <a:r>
              <a:rPr lang="en-ID" dirty="0"/>
              <a:t>. </a:t>
            </a:r>
          </a:p>
          <a:p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kota</a:t>
            </a:r>
            <a:r>
              <a:rPr lang="en-ID" dirty="0"/>
              <a:t> dan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segmen</a:t>
            </a:r>
            <a:r>
              <a:rPr lang="en-ID" dirty="0"/>
              <a:t> yang </a:t>
            </a:r>
            <a:r>
              <a:rPr lang="en-ID" dirty="0" err="1"/>
              <a:t>mendominasi</a:t>
            </a:r>
            <a:r>
              <a:rPr lang="en-ID" dirty="0"/>
              <a:t>. </a:t>
            </a:r>
          </a:p>
          <a:p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variasi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berpotensi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target program </a:t>
            </a:r>
            <a:r>
              <a:rPr lang="en-ID" dirty="0" err="1"/>
              <a:t>loyalitas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882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47AA0-8629-4DE1-B1B2-F56B9867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9562-BE22-BD90-D308-4281A508A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b="1" dirty="0" err="1"/>
              <a:t>Rekomendasi</a:t>
            </a:r>
            <a:endParaRPr lang="en-ID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AA4B7B-9CAF-9A0E-00C7-35403DE64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189217"/>
              </p:ext>
            </p:extLst>
          </p:nvPr>
        </p:nvGraphicFramePr>
        <p:xfrm>
          <a:off x="646111" y="1400782"/>
          <a:ext cx="10774161" cy="5004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1438">
                  <a:extLst>
                    <a:ext uri="{9D8B030D-6E8A-4147-A177-3AD203B41FA5}">
                      <a16:colId xmlns:a16="http://schemas.microsoft.com/office/drawing/2014/main" val="2397317664"/>
                    </a:ext>
                  </a:extLst>
                </a:gridCol>
                <a:gridCol w="5542723">
                  <a:extLst>
                    <a:ext uri="{9D8B030D-6E8A-4147-A177-3AD203B41FA5}">
                      <a16:colId xmlns:a16="http://schemas.microsoft.com/office/drawing/2014/main" val="102323802"/>
                    </a:ext>
                  </a:extLst>
                </a:gridCol>
              </a:tblGrid>
              <a:tr h="45046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Temuan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Rekomendasi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06756"/>
                  </a:ext>
                </a:extLst>
              </a:tr>
              <a:tr h="777518">
                <a:tc>
                  <a:txBody>
                    <a:bodyPr/>
                    <a:lstStyle/>
                    <a:p>
                      <a:r>
                        <a:rPr lang="en-ID" dirty="0" err="1"/>
                        <a:t>GoPay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menjadi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metode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pembayaran</a:t>
                      </a:r>
                      <a:r>
                        <a:rPr lang="en-ID" dirty="0"/>
                        <a:t> paling </a:t>
                      </a:r>
                      <a:r>
                        <a:rPr lang="en-ID" dirty="0" err="1"/>
                        <a:t>dominan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Pertahankan</a:t>
                      </a:r>
                      <a:r>
                        <a:rPr lang="en-ID" dirty="0"/>
                        <a:t> dan </a:t>
                      </a:r>
                      <a:r>
                        <a:rPr lang="en-ID" dirty="0" err="1"/>
                        <a:t>tingkatkan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kerja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sama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dengan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penyedia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pembayaran</a:t>
                      </a:r>
                      <a:r>
                        <a:rPr lang="en-ID" dirty="0"/>
                        <a:t> digital.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460794"/>
                  </a:ext>
                </a:extLst>
              </a:tr>
              <a:tr h="777518">
                <a:tc>
                  <a:txBody>
                    <a:bodyPr/>
                    <a:lstStyle/>
                    <a:p>
                      <a:r>
                        <a:rPr lang="en-ID" dirty="0" err="1"/>
                        <a:t>GoTo</a:t>
                      </a:r>
                      <a:r>
                        <a:rPr lang="en-ID" dirty="0"/>
                        <a:t> Logistics </a:t>
                      </a:r>
                      <a:r>
                        <a:rPr lang="en-ID" dirty="0" err="1"/>
                        <a:t>menangani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sebagian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besar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pengiriman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Lakukan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evaluasi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performa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kurir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secara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berkala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untuk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menjaga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kualitas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layanan</a:t>
                      </a:r>
                      <a:r>
                        <a:rPr lang="en-ID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86989"/>
                  </a:ext>
                </a:extLst>
              </a:tr>
              <a:tr h="777518">
                <a:tc>
                  <a:txBody>
                    <a:bodyPr/>
                    <a:lstStyle/>
                    <a:p>
                      <a:r>
                        <a:rPr lang="en-ID" dirty="0" err="1"/>
                        <a:t>Terdapat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pelanggan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dengan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nilai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transaksi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tinggi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Kembangkan</a:t>
                      </a:r>
                      <a:r>
                        <a:rPr lang="en-ID" dirty="0"/>
                        <a:t> program </a:t>
                      </a:r>
                      <a:r>
                        <a:rPr lang="en-ID" dirty="0" err="1"/>
                        <a:t>loyalitas</a:t>
                      </a:r>
                      <a:r>
                        <a:rPr lang="en-ID" dirty="0"/>
                        <a:t> dan </a:t>
                      </a:r>
                      <a:r>
                        <a:rPr lang="en-ID" dirty="0" err="1"/>
                        <a:t>promosi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khusus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bagi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pelanggan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prioritas</a:t>
                      </a:r>
                      <a:r>
                        <a:rPr lang="en-ID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31674"/>
                  </a:ext>
                </a:extLst>
              </a:tr>
              <a:tr h="1110739">
                <a:tc>
                  <a:txBody>
                    <a:bodyPr/>
                    <a:lstStyle/>
                    <a:p>
                      <a:r>
                        <a:rPr lang="en-ID" dirty="0" err="1"/>
                        <a:t>Distribusi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pelanggan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relatif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merata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Terapkan</a:t>
                      </a:r>
                      <a:r>
                        <a:rPr lang="en-ID" dirty="0"/>
                        <a:t> strategi </a:t>
                      </a:r>
                      <a:r>
                        <a:rPr lang="en-ID" dirty="0" err="1"/>
                        <a:t>promosi</a:t>
                      </a:r>
                      <a:r>
                        <a:rPr lang="en-ID" dirty="0"/>
                        <a:t> yang </a:t>
                      </a:r>
                      <a:r>
                        <a:rPr lang="en-ID" dirty="0" err="1"/>
                        <a:t>menjangkau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seluruh</a:t>
                      </a:r>
                      <a:r>
                        <a:rPr lang="en-ID" dirty="0"/>
                        <a:t> wilayah, </a:t>
                      </a:r>
                      <a:r>
                        <a:rPr lang="en-ID" dirty="0" err="1"/>
                        <a:t>bukan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hanya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satu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kota</a:t>
                      </a:r>
                      <a:r>
                        <a:rPr lang="en-ID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236139"/>
                  </a:ext>
                </a:extLst>
              </a:tr>
              <a:tr h="1110739">
                <a:tc>
                  <a:txBody>
                    <a:bodyPr/>
                    <a:lstStyle/>
                    <a:p>
                      <a:r>
                        <a:rPr lang="en-ID" dirty="0"/>
                        <a:t>Ditemukan data </a:t>
                      </a:r>
                      <a:r>
                        <a:rPr lang="en-ID" dirty="0" err="1"/>
                        <a:t>tidak</a:t>
                      </a:r>
                      <a:r>
                        <a:rPr lang="en-ID" dirty="0"/>
                        <a:t> valid </a:t>
                      </a:r>
                      <a:r>
                        <a:rPr lang="en-ID" dirty="0" err="1"/>
                        <a:t>saat</a:t>
                      </a:r>
                      <a:r>
                        <a:rPr lang="en-ID" dirty="0"/>
                        <a:t>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Lakukan</a:t>
                      </a:r>
                      <a:r>
                        <a:rPr lang="en-ID" dirty="0"/>
                        <a:t> monitoring </a:t>
                      </a:r>
                      <a:r>
                        <a:rPr lang="en-ID" dirty="0" err="1"/>
                        <a:t>kualitas</a:t>
                      </a:r>
                      <a:r>
                        <a:rPr lang="en-ID" dirty="0"/>
                        <a:t> data </a:t>
                      </a:r>
                      <a:r>
                        <a:rPr lang="en-ID" dirty="0" err="1"/>
                        <a:t>secara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berkala</a:t>
                      </a:r>
                      <a:r>
                        <a:rPr lang="en-ID" dirty="0"/>
                        <a:t> agar </a:t>
                      </a:r>
                      <a:r>
                        <a:rPr lang="en-ID" dirty="0" err="1"/>
                        <a:t>analisis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berikutnya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lebih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akurat</a:t>
                      </a:r>
                      <a:r>
                        <a:rPr lang="en-ID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102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466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1C73-38A7-196C-BFA7-81DB5A91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8CE63-8969-4F8F-24E6-B1DCDD7E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10817756" cy="5711016"/>
          </a:xfrm>
        </p:spPr>
        <p:txBody>
          <a:bodyPr anchor="b"/>
          <a:lstStyle/>
          <a:p>
            <a:pPr algn="r"/>
            <a:r>
              <a:rPr lang="en-ID" sz="5400" b="1" dirty="0" err="1"/>
              <a:t>Terima</a:t>
            </a:r>
            <a:r>
              <a:rPr lang="en-ID" sz="5400" b="1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7226422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</TotalTime>
  <Words>361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Cambria</vt:lpstr>
      <vt:lpstr>Wingdings</vt:lpstr>
      <vt:lpstr>Wingdings 3</vt:lpstr>
      <vt:lpstr>Ion</vt:lpstr>
      <vt:lpstr>Analisis Transaksi Pelanggan dan Kinerja Pengiriman Tokopedia Capstone Project Module 2 Data Analysis</vt:lpstr>
      <vt:lpstr>Latar Belakang &amp; Rumusan Masalah</vt:lpstr>
      <vt:lpstr>Tujuan Analisis &amp; Dataset</vt:lpstr>
      <vt:lpstr>Tahapan Analisis</vt:lpstr>
      <vt:lpstr>Kesimpulan</vt:lpstr>
      <vt:lpstr>Rekomendasi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Nahwan Nashiruddin</dc:creator>
  <cp:lastModifiedBy>Muhammad Nahwan Nashiruddin</cp:lastModifiedBy>
  <cp:revision>2</cp:revision>
  <dcterms:created xsi:type="dcterms:W3CDTF">2026-07-14T15:54:02Z</dcterms:created>
  <dcterms:modified xsi:type="dcterms:W3CDTF">2026-07-14T17:12:42Z</dcterms:modified>
</cp:coreProperties>
</file>